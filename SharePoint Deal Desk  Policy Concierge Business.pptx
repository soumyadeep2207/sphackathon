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
  </p:notesMasterIdLst>
  <p:sldIdLst>
    <p:sldId id="2145706672"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94660"/>
  </p:normalViewPr>
  <p:slideViewPr>
    <p:cSldViewPr snapToGrid="0" showGuides="1">
      <p:cViewPr varScale="1">
        <p:scale>
          <a:sx n="70" d="100"/>
          <a:sy n="70" d="100"/>
        </p:scale>
        <p:origin x="38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herjee, Soumyadeep" userId="609f3493-ec30-4200-9451-c33673c07fee" providerId="ADAL" clId="{3C4D64F9-7D6C-4E71-98E7-F9CC6252D0A5}"/>
    <pc:docChg chg="custSel modSld">
      <pc:chgData name="Mukherjee, Soumyadeep" userId="609f3493-ec30-4200-9451-c33673c07fee" providerId="ADAL" clId="{3C4D64F9-7D6C-4E71-98E7-F9CC6252D0A5}" dt="2026-03-16T22:24:55.687" v="8" actId="478"/>
      <pc:docMkLst>
        <pc:docMk/>
      </pc:docMkLst>
      <pc:sldChg chg="addSp delSp modSp mod">
        <pc:chgData name="Mukherjee, Soumyadeep" userId="609f3493-ec30-4200-9451-c33673c07fee" providerId="ADAL" clId="{3C4D64F9-7D6C-4E71-98E7-F9CC6252D0A5}" dt="2026-03-16T22:24:55.687" v="8" actId="478"/>
        <pc:sldMkLst>
          <pc:docMk/>
          <pc:sldMk cId="2607937256" sldId="2145706672"/>
        </pc:sldMkLst>
        <pc:spChg chg="add mod">
          <ac:chgData name="Mukherjee, Soumyadeep" userId="609f3493-ec30-4200-9451-c33673c07fee" providerId="ADAL" clId="{3C4D64F9-7D6C-4E71-98E7-F9CC6252D0A5}" dt="2026-03-16T22:24:55.687" v="8" actId="478"/>
          <ac:spMkLst>
            <pc:docMk/>
            <pc:sldMk cId="2607937256" sldId="2145706672"/>
            <ac:spMk id="3" creationId="{F1B0B88F-2C92-A14E-EE11-6CFC9E8D8EA9}"/>
          </ac:spMkLst>
        </pc:spChg>
        <pc:spChg chg="del mod">
          <ac:chgData name="Mukherjee, Soumyadeep" userId="609f3493-ec30-4200-9451-c33673c07fee" providerId="ADAL" clId="{3C4D64F9-7D6C-4E71-98E7-F9CC6252D0A5}" dt="2026-03-16T22:24:55.687" v="8" actId="478"/>
          <ac:spMkLst>
            <pc:docMk/>
            <pc:sldMk cId="2607937256" sldId="2145706672"/>
            <ac:spMk id="9" creationId="{154A4776-4F60-A5D7-A158-14B445D5BC00}"/>
          </ac:spMkLst>
        </pc:spChg>
        <pc:spChg chg="mod">
          <ac:chgData name="Mukherjee, Soumyadeep" userId="609f3493-ec30-4200-9451-c33673c07fee" providerId="ADAL" clId="{3C4D64F9-7D6C-4E71-98E7-F9CC6252D0A5}" dt="2026-03-16T22:24:46.067" v="6" actId="6549"/>
          <ac:spMkLst>
            <pc:docMk/>
            <pc:sldMk cId="2607937256" sldId="2145706672"/>
            <ac:spMk id="10" creationId="{64684B5D-DC04-70A1-D993-6A0C8FA4DA67}"/>
          </ac:spMkLst>
        </pc:spChg>
        <pc:spChg chg="mod">
          <ac:chgData name="Mukherjee, Soumyadeep" userId="609f3493-ec30-4200-9451-c33673c07fee" providerId="ADAL" clId="{3C4D64F9-7D6C-4E71-98E7-F9CC6252D0A5}" dt="2026-03-16T19:53:42.056" v="5" actId="20577"/>
          <ac:spMkLst>
            <pc:docMk/>
            <pc:sldMk cId="2607937256" sldId="2145706672"/>
            <ac:spMk id="11" creationId="{7248633F-B3C6-87CF-A093-F3C0BDDB811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22296-B8C4-411E-921B-317197104F70}" type="datetimeFigureOut">
              <a:rPr lang="en-CA" smtClean="0"/>
              <a:t>2026-03-16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CA5591-223E-4791-AA3F-961FEF92C238}" type="slidenum">
              <a:rPr lang="en-CA" smtClean="0"/>
              <a:t>‹#›</a:t>
            </a:fld>
            <a:endParaRPr lang="en-CA"/>
          </a:p>
        </p:txBody>
      </p:sp>
    </p:spTree>
    <p:extLst>
      <p:ext uri="{BB962C8B-B14F-4D97-AF65-F5344CB8AC3E}">
        <p14:creationId xmlns:p14="http://schemas.microsoft.com/office/powerpoint/2010/main" val="3590953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50EB7-EBDE-445B-B69D-BE83DDDABD0A}" type="slidenum">
              <a:rPr kumimoji="0" lang="en-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04110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0.png"/><Relationship Id="rId3" Type="http://schemas.openxmlformats.org/officeDocument/2006/relationships/tags" Target="../tags/tag3.xml"/><Relationship Id="rId7" Type="http://schemas.openxmlformats.org/officeDocument/2006/relationships/image" Target="../media/image7.png"/><Relationship Id="rId12" Type="http://schemas.openxmlformats.org/officeDocument/2006/relationships/hyperlink" Target="http://www.linkedin.com/company/capgemini" TargetMode="Externa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9.png"/><Relationship Id="rId5" Type="http://schemas.openxmlformats.org/officeDocument/2006/relationships/slideMaster" Target="../slideMasters/slideMaster1.xml"/><Relationship Id="rId15" Type="http://schemas.openxmlformats.org/officeDocument/2006/relationships/image" Target="../media/image11.png"/><Relationship Id="rId10" Type="http://schemas.openxmlformats.org/officeDocument/2006/relationships/hyperlink" Target="http://www.facebook.com/capgemini" TargetMode="External"/><Relationship Id="rId4" Type="http://schemas.openxmlformats.org/officeDocument/2006/relationships/tags" Target="../tags/tag4.xml"/><Relationship Id="rId9" Type="http://schemas.openxmlformats.org/officeDocument/2006/relationships/image" Target="../media/image8.png"/><Relationship Id="rId14" Type="http://schemas.openxmlformats.org/officeDocument/2006/relationships/hyperlink" Target="https://www.instagram.com/capgemini/" TargetMode="External"/></Relationships>
</file>

<file path=ppt/slideLayouts/_rels/slideLayout58.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0.png"/></Relationships>
</file>

<file path=ppt/slideLayouts/_rels/slideLayout59.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2.png"/><Relationship Id="rId7" Type="http://schemas.microsoft.com/office/2007/relationships/hdphoto" Target="../media/hdphoto2.wdp"/><Relationship Id="rId12" Type="http://schemas.openxmlformats.org/officeDocument/2006/relationships/image" Target="../media/image15.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3.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6.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4.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Tree>
    <p:extLst>
      <p:ext uri="{BB962C8B-B14F-4D97-AF65-F5344CB8AC3E}">
        <p14:creationId xmlns:p14="http://schemas.microsoft.com/office/powerpoint/2010/main" val="363272719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28679160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spTree>
    <p:extLst>
      <p:ext uri="{BB962C8B-B14F-4D97-AF65-F5344CB8AC3E}">
        <p14:creationId xmlns:p14="http://schemas.microsoft.com/office/powerpoint/2010/main" val="43350508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60622202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2303558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60891052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41968574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92119192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3913264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4227244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34553673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3405567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1012528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2285800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6864503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dirty="0"/>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039215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2157390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158841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Tree>
    <p:extLst>
      <p:ext uri="{BB962C8B-B14F-4D97-AF65-F5344CB8AC3E}">
        <p14:creationId xmlns:p14="http://schemas.microsoft.com/office/powerpoint/2010/main" val="18296553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499436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5793510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851465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167958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667877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408711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3072451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8478600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238648424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299984697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8431595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6520872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42232255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7186481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Tree>
    <p:extLst>
      <p:ext uri="{BB962C8B-B14F-4D97-AF65-F5344CB8AC3E}">
        <p14:creationId xmlns:p14="http://schemas.microsoft.com/office/powerpoint/2010/main" val="30685755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3833583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117603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9224776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76457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0219343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4401659"/>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488213029"/>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662137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5477704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00704225"/>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627619411"/>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290744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5875914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dirty="0"/>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101432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5801501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50BC5634-6A28-9D33-20CF-70AC9E959BE7}"/>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249277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endParaRPr lang="en-US" dirty="0"/>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408761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94138994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170477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15194063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5149329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54318811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Ubuntu" panose="020B0504030602030204" pitchFamily="34" charset="0"/>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Ubuntu" panose="020B0504030602030204" pitchFamily="34" charset="0"/>
              </a:rPr>
              <a:t>w</a:t>
            </a:r>
            <a:r>
              <a:rPr lang="en-US" sz="1050" err="1">
                <a:solidFill>
                  <a:schemeClr val="tx1"/>
                </a:solidFill>
                <a:latin typeface="Ubuntu" panose="020B0504030602030204" pitchFamily="34" charset="0"/>
              </a:rPr>
              <a:t>ww.capgemini.com</a:t>
            </a:r>
            <a:endParaRPr lang="en-US" sz="1050">
              <a:solidFill>
                <a:schemeClr val="tx1"/>
              </a:solidFill>
              <a:latin typeface="Ubuntu" panose="020B0504030602030204" pitchFamily="34" charset="0"/>
            </a:endParaRP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740362858"/>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20529282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tx1"/>
                </a:solidFill>
                <a:latin typeface="+mn-lt"/>
              </a:rPr>
              <a:t>w</a:t>
            </a:r>
            <a:r>
              <a:rPr lang="en-US" sz="1050" dirty="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24701870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image" Target="../media/image1.pn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255274696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 id="2147483716" r:id="rId55"/>
    <p:sldLayoutId id="2147483717" r:id="rId56"/>
    <p:sldLayoutId id="2147483718" r:id="rId57"/>
    <p:sldLayoutId id="2147483719" r:id="rId58"/>
    <p:sldLayoutId id="2147483720"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2C008-ABE2-4D70-3CBE-68FAA4906B6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23750CC-AC82-B39B-EE91-9623A2AC45EF}"/>
              </a:ext>
            </a:extLst>
          </p:cNvPr>
          <p:cNvSpPr>
            <a:spLocks noGrp="1"/>
          </p:cNvSpPr>
          <p:nvPr>
            <p:ph type="title"/>
          </p:nvPr>
        </p:nvSpPr>
        <p:spPr>
          <a:xfrm>
            <a:off x="227187" y="229052"/>
            <a:ext cx="7920880" cy="930372"/>
          </a:xfrm>
        </p:spPr>
        <p:txBody>
          <a:bodyPr/>
          <a:lstStyle/>
          <a:p>
            <a:r>
              <a:rPr lang="en-US" sz="2800" dirty="0"/>
              <a:t>SharePoint Deal Desk &amp; Policy Concierge – Business Case</a:t>
            </a:r>
          </a:p>
        </p:txBody>
      </p:sp>
      <p:sp>
        <p:nvSpPr>
          <p:cNvPr id="11" name="Content Placeholder 10">
            <a:extLst>
              <a:ext uri="{FF2B5EF4-FFF2-40B4-BE49-F238E27FC236}">
                <a16:creationId xmlns:a16="http://schemas.microsoft.com/office/drawing/2014/main" id="{7248633F-B3C6-87CF-A093-F3C0BDDB8112}"/>
              </a:ext>
            </a:extLst>
          </p:cNvPr>
          <p:cNvSpPr>
            <a:spLocks noGrp="1"/>
          </p:cNvSpPr>
          <p:nvPr>
            <p:ph sz="quarter" idx="31"/>
          </p:nvPr>
        </p:nvSpPr>
        <p:spPr>
          <a:xfrm>
            <a:off x="226665" y="1919720"/>
            <a:ext cx="8468446" cy="4865716"/>
          </a:xfrm>
        </p:spPr>
        <p:txBody>
          <a:bodyPr numCol="2" spcCol="180000"/>
          <a:lstStyle/>
          <a:p>
            <a:pPr fontAlgn="t">
              <a:lnSpc>
                <a:spcPts val="1500"/>
              </a:lnSpc>
            </a:pPr>
            <a:r>
              <a:rPr lang="en-US" b="1" dirty="0">
                <a:latin typeface="Segoe UI" panose="020B0502040204020203" pitchFamily="34" charset="0"/>
              </a:rPr>
              <a:t>Problem:</a:t>
            </a:r>
          </a:p>
          <a:p>
            <a:pPr fontAlgn="t">
              <a:lnSpc>
                <a:spcPts val="1500"/>
              </a:lnSpc>
            </a:pPr>
            <a:r>
              <a:rPr lang="en-US" sz="1200" dirty="0">
                <a:latin typeface="Segoe UI" panose="020B0502040204020203" pitchFamily="34" charset="0"/>
              </a:rPr>
              <a:t>Sales and operations teams spend unnecessary time searching for policies, templates, deal checklists, and approval requirements scattered across multiple SharePoint sites. This slows deal velocity, leads to inconsistent documentation, and introduces avoidable compliance risks.</a:t>
            </a:r>
          </a:p>
          <a:p>
            <a:pPr fontAlgn="t">
              <a:lnSpc>
                <a:spcPts val="1500"/>
              </a:lnSpc>
            </a:pPr>
            <a:r>
              <a:rPr lang="en-US" b="1" dirty="0">
                <a:latin typeface="Segoe UI" panose="020B0502040204020203" pitchFamily="34" charset="0"/>
              </a:rPr>
              <a:t>Solution</a:t>
            </a:r>
            <a:r>
              <a:rPr lang="en-US" sz="1200" b="1" dirty="0">
                <a:latin typeface="Segoe UI" panose="020B0502040204020203" pitchFamily="34" charset="0"/>
              </a:rPr>
              <a:t>:</a:t>
            </a:r>
          </a:p>
          <a:p>
            <a:pPr fontAlgn="t">
              <a:lnSpc>
                <a:spcPts val="1500"/>
              </a:lnSpc>
            </a:pPr>
            <a:r>
              <a:rPr lang="en-US" sz="1200" dirty="0">
                <a:latin typeface="Segoe UI" panose="020B0502040204020203" pitchFamily="34" charset="0"/>
              </a:rPr>
              <a:t>A native SharePoint‑based Copilot agent that provides an in‑context, AI‑driven assistant experience. The agent enables users to:</a:t>
            </a:r>
          </a:p>
          <a:p>
            <a:pPr marL="285750" indent="-285750" fontAlgn="t">
              <a:lnSpc>
                <a:spcPts val="1500"/>
              </a:lnSpc>
              <a:buFont typeface="Wingdings" panose="05000000000000000000" pitchFamily="2" charset="2"/>
              <a:buChar char="Ø"/>
            </a:pPr>
            <a:r>
              <a:rPr lang="en-US" sz="1200" dirty="0">
                <a:latin typeface="Segoe UI" panose="020B0502040204020203" pitchFamily="34" charset="0"/>
              </a:rPr>
              <a:t>Quickly get answers about deal policies, required artifacts, and process steps</a:t>
            </a:r>
          </a:p>
          <a:p>
            <a:pPr marL="285750" indent="-285750" fontAlgn="t">
              <a:lnSpc>
                <a:spcPts val="1500"/>
              </a:lnSpc>
              <a:buFont typeface="Wingdings" panose="05000000000000000000" pitchFamily="2" charset="2"/>
              <a:buChar char="Ø"/>
            </a:pPr>
            <a:r>
              <a:rPr lang="en-US" sz="1200" dirty="0">
                <a:latin typeface="Segoe UI" panose="020B0502040204020203" pitchFamily="34" charset="0"/>
              </a:rPr>
              <a:t>Instantly access the correct templates and documentation</a:t>
            </a:r>
          </a:p>
          <a:p>
            <a:pPr marL="285750" indent="-285750" fontAlgn="t">
              <a:lnSpc>
                <a:spcPts val="1500"/>
              </a:lnSpc>
              <a:buFont typeface="Wingdings" panose="05000000000000000000" pitchFamily="2" charset="2"/>
              <a:buChar char="Ø"/>
            </a:pPr>
            <a:r>
              <a:rPr lang="en-US" sz="1200" dirty="0">
                <a:latin typeface="Segoe UI" panose="020B0502040204020203" pitchFamily="34" charset="0"/>
              </a:rPr>
              <a:t>Draft deal‑related materials with high accuracy</a:t>
            </a:r>
          </a:p>
          <a:p>
            <a:pPr marL="285750" indent="-285750" fontAlgn="t">
              <a:lnSpc>
                <a:spcPts val="1500"/>
              </a:lnSpc>
              <a:buFont typeface="Wingdings" panose="05000000000000000000" pitchFamily="2" charset="2"/>
              <a:buChar char="Ø"/>
            </a:pPr>
            <a:endParaRPr lang="en-US" sz="1200" dirty="0">
              <a:latin typeface="Segoe UI" panose="020B0502040204020203" pitchFamily="34" charset="0"/>
            </a:endParaRPr>
          </a:p>
          <a:p>
            <a:pPr marL="285750" indent="-285750" fontAlgn="t">
              <a:lnSpc>
                <a:spcPts val="1500"/>
              </a:lnSpc>
              <a:buFont typeface="Wingdings" panose="05000000000000000000" pitchFamily="2" charset="2"/>
              <a:buChar char="Ø"/>
            </a:pPr>
            <a:endParaRPr lang="en-US" sz="1200" dirty="0">
              <a:latin typeface="Segoe UI" panose="020B0502040204020203" pitchFamily="34" charset="0"/>
            </a:endParaRPr>
          </a:p>
          <a:p>
            <a:pPr fontAlgn="t">
              <a:lnSpc>
                <a:spcPts val="1500"/>
              </a:lnSpc>
            </a:pPr>
            <a:endParaRPr lang="en-US" sz="1200" dirty="0">
              <a:latin typeface="Segoe UI" panose="020B0502040204020203" pitchFamily="34" charset="0"/>
            </a:endParaRPr>
          </a:p>
          <a:p>
            <a:pPr marL="285750" indent="-285750" fontAlgn="t">
              <a:lnSpc>
                <a:spcPts val="1500"/>
              </a:lnSpc>
              <a:buFont typeface="Wingdings" panose="05000000000000000000" pitchFamily="2" charset="2"/>
              <a:buChar char="Ø"/>
            </a:pPr>
            <a:r>
              <a:rPr lang="en-US" sz="1200" dirty="0">
                <a:latin typeface="Segoe UI" panose="020B0502040204020203" pitchFamily="34" charset="0"/>
              </a:rPr>
              <a:t>Create approval or review records directly from the agent</a:t>
            </a:r>
          </a:p>
          <a:p>
            <a:pPr fontAlgn="t">
              <a:lnSpc>
                <a:spcPts val="1500"/>
              </a:lnSpc>
            </a:pPr>
            <a:r>
              <a:rPr lang="en-US" sz="1200" dirty="0">
                <a:latin typeface="Segoe UI" panose="020B0502040204020203" pitchFamily="34" charset="0"/>
              </a:rPr>
              <a:t>All delivered seamlessly within the SharePoint environment—no switching tools or hunting for files.</a:t>
            </a:r>
          </a:p>
          <a:p>
            <a:pPr fontAlgn="t">
              <a:lnSpc>
                <a:spcPts val="1500"/>
              </a:lnSpc>
            </a:pPr>
            <a:r>
              <a:rPr lang="en-US" b="1" dirty="0">
                <a:latin typeface="Segoe UI" panose="020B0502040204020203" pitchFamily="34" charset="0"/>
              </a:rPr>
              <a:t>Impact</a:t>
            </a:r>
          </a:p>
          <a:p>
            <a:pPr marL="171450" indent="-171450" fontAlgn="t">
              <a:lnSpc>
                <a:spcPts val="1500"/>
              </a:lnSpc>
              <a:buFont typeface="Wingdings" panose="05000000000000000000" pitchFamily="2" charset="2"/>
              <a:buChar char="Ø"/>
            </a:pPr>
            <a:r>
              <a:rPr lang="en-US" sz="1200" b="1" dirty="0">
                <a:latin typeface="Segoe UI" panose="020B0502040204020203" pitchFamily="34" charset="0"/>
              </a:rPr>
              <a:t>Accelerated deal cycles</a:t>
            </a:r>
            <a:r>
              <a:rPr lang="en-US" sz="1200" dirty="0">
                <a:latin typeface="Segoe UI" panose="020B0502040204020203" pitchFamily="34" charset="0"/>
              </a:rPr>
              <a:t> through reduced searching and fewer process handoffs.</a:t>
            </a:r>
          </a:p>
          <a:p>
            <a:pPr marL="171450" indent="-171450" fontAlgn="t">
              <a:lnSpc>
                <a:spcPts val="1500"/>
              </a:lnSpc>
              <a:buFont typeface="Wingdings" panose="05000000000000000000" pitchFamily="2" charset="2"/>
              <a:buChar char="Ø"/>
            </a:pPr>
            <a:r>
              <a:rPr lang="en-US" sz="1200" b="1" dirty="0">
                <a:latin typeface="Segoe UI" panose="020B0502040204020203" pitchFamily="34" charset="0"/>
              </a:rPr>
              <a:t>Higher accuracy and compliance</a:t>
            </a:r>
            <a:r>
              <a:rPr lang="en-US" sz="1200" dirty="0">
                <a:latin typeface="Segoe UI" panose="020B0502040204020203" pitchFamily="34" charset="0"/>
              </a:rPr>
              <a:t>, driven by consistent use of the right guidance and templates.</a:t>
            </a:r>
          </a:p>
          <a:p>
            <a:pPr marL="171450" indent="-171450" fontAlgn="t">
              <a:lnSpc>
                <a:spcPts val="1500"/>
              </a:lnSpc>
              <a:buFont typeface="Wingdings" panose="05000000000000000000" pitchFamily="2" charset="2"/>
              <a:buChar char="Ø"/>
            </a:pPr>
            <a:r>
              <a:rPr lang="en-US" sz="1200" b="1" dirty="0">
                <a:latin typeface="Segoe UI" panose="020B0502040204020203" pitchFamily="34" charset="0"/>
              </a:rPr>
              <a:t>Stronger governance</a:t>
            </a:r>
            <a:r>
              <a:rPr lang="en-US" sz="1200" dirty="0">
                <a:latin typeface="Segoe UI" panose="020B0502040204020203" pitchFamily="34" charset="0"/>
              </a:rPr>
              <a:t>, with approvals and routing captured automatically as part of the workflow.</a:t>
            </a:r>
          </a:p>
          <a:p>
            <a:pPr marL="171450" indent="-171450" fontAlgn="t">
              <a:lnSpc>
                <a:spcPts val="1500"/>
              </a:lnSpc>
              <a:buFont typeface="Wingdings" panose="05000000000000000000" pitchFamily="2" charset="2"/>
              <a:buChar char="Ø"/>
            </a:pPr>
            <a:r>
              <a:rPr lang="en-US" sz="1200" b="1" dirty="0">
                <a:latin typeface="Segoe UI" panose="020B0502040204020203" pitchFamily="34" charset="0"/>
              </a:rPr>
              <a:t>No additional UI overhead</a:t>
            </a:r>
            <a:r>
              <a:rPr lang="en-US" sz="1200" dirty="0">
                <a:latin typeface="Segoe UI" panose="020B0502040204020203" pitchFamily="34" charset="0"/>
              </a:rPr>
              <a:t>, leveraging SharePoint’s native Copilot extensibility for a seamless experience.</a:t>
            </a:r>
          </a:p>
          <a:p>
            <a:pPr lvl="0"/>
            <a:endParaRPr lang="en-US" noProof="0" dirty="0"/>
          </a:p>
          <a:p>
            <a:endParaRPr lang="en-US" dirty="0"/>
          </a:p>
        </p:txBody>
      </p:sp>
      <p:sp>
        <p:nvSpPr>
          <p:cNvPr id="10" name="Content Placeholder 9">
            <a:extLst>
              <a:ext uri="{FF2B5EF4-FFF2-40B4-BE49-F238E27FC236}">
                <a16:creationId xmlns:a16="http://schemas.microsoft.com/office/drawing/2014/main" id="{64684B5D-DC04-70A1-D993-6A0C8FA4DA67}"/>
              </a:ext>
            </a:extLst>
          </p:cNvPr>
          <p:cNvSpPr>
            <a:spLocks noGrp="1"/>
          </p:cNvSpPr>
          <p:nvPr>
            <p:ph sz="quarter" idx="28"/>
          </p:nvPr>
        </p:nvSpPr>
        <p:spPr>
          <a:xfrm>
            <a:off x="9090081" y="1125538"/>
            <a:ext cx="2830369" cy="5059131"/>
          </a:xfrm>
        </p:spPr>
        <p:txBody>
          <a:bodyPr numCol="1" spcCol="180000"/>
          <a:lstStyle/>
          <a:p>
            <a:endParaRPr lang="en-US" dirty="0"/>
          </a:p>
        </p:txBody>
      </p:sp>
      <p:sp>
        <p:nvSpPr>
          <p:cNvPr id="72" name="Date Placeholder 71">
            <a:extLst>
              <a:ext uri="{FF2B5EF4-FFF2-40B4-BE49-F238E27FC236}">
                <a16:creationId xmlns:a16="http://schemas.microsoft.com/office/drawing/2014/main" id="{F8F3DBF0-D62F-FC49-00FD-C6EBD8F2FD07}"/>
              </a:ext>
            </a:extLst>
          </p:cNvPr>
          <p:cNvSpPr>
            <a:spLocks noGrp="1"/>
          </p:cNvSpPr>
          <p:nvPr>
            <p:ph type="dt" sz="half" idx="24"/>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endParaRPr kumimoji="0" lang="en-US" sz="800" b="0" i="0" u="none" strike="noStrike" kern="1200" cap="none" spc="0" normalizeH="0" baseline="0" noProof="0" dirty="0">
              <a:ln>
                <a:noFill/>
              </a:ln>
              <a:solidFill>
                <a:srgbClr val="FFFFFF">
                  <a:lumMod val="65000"/>
                </a:srgbClr>
              </a:solidFill>
              <a:effectLst/>
              <a:uLnTx/>
              <a:uFillTx/>
              <a:latin typeface="Ubuntu"/>
              <a:ea typeface="+mn-ea"/>
              <a:cs typeface="+mn-cs"/>
            </a:endParaRPr>
          </a:p>
        </p:txBody>
      </p:sp>
      <p:sp>
        <p:nvSpPr>
          <p:cNvPr id="73" name="Footer Placeholder 72">
            <a:extLst>
              <a:ext uri="{FF2B5EF4-FFF2-40B4-BE49-F238E27FC236}">
                <a16:creationId xmlns:a16="http://schemas.microsoft.com/office/drawing/2014/main" id="{C55D1A11-C44D-1756-704D-75FEF974B02B}"/>
              </a:ext>
            </a:extLst>
          </p:cNvPr>
          <p:cNvSpPr>
            <a:spLocks noGrp="1"/>
          </p:cNvSpPr>
          <p:nvPr>
            <p:ph type="ftr" sz="quarter" idx="25"/>
          </p:nvPr>
        </p:nvSpPr>
        <p:spPr/>
        <p: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dirty="0">
                <a:ln>
                  <a:noFill/>
                </a:ln>
                <a:solidFill>
                  <a:srgbClr val="FFFFFF">
                    <a:lumMod val="65000"/>
                  </a:srgbClr>
                </a:solidFill>
                <a:effectLst/>
                <a:uLnTx/>
                <a:uFillTx/>
                <a:latin typeface="Ubuntu"/>
                <a:ea typeface="+mn-ea"/>
                <a:cs typeface="+mn-cs"/>
              </a:rPr>
              <a:t>Presentation Title | Author | Date</a:t>
            </a:r>
          </a:p>
        </p:txBody>
      </p:sp>
      <p:sp>
        <p:nvSpPr>
          <p:cNvPr id="74" name="Slide Number Placeholder 73">
            <a:extLst>
              <a:ext uri="{FF2B5EF4-FFF2-40B4-BE49-F238E27FC236}">
                <a16:creationId xmlns:a16="http://schemas.microsoft.com/office/drawing/2014/main" id="{AFCFA707-D3F2-F0D8-14B5-B39B39486100}"/>
              </a:ext>
            </a:extLst>
          </p:cNvPr>
          <p:cNvSpPr>
            <a:spLocks noGrp="1"/>
          </p:cNvSpPr>
          <p:nvPr>
            <p:ph type="sldNum" sz="quarter" idx="2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dirty="0">
              <a:ln>
                <a:noFill/>
              </a:ln>
              <a:solidFill>
                <a:srgbClr val="FFFFFF">
                  <a:lumMod val="65000"/>
                </a:srgbClr>
              </a:solidFill>
              <a:effectLst/>
              <a:uLnTx/>
              <a:uFillTx/>
              <a:latin typeface="Ubuntu"/>
              <a:ea typeface="+mn-ea"/>
              <a:cs typeface="Arial" panose="020B0604020202020204" pitchFamily="34" charset="0"/>
            </a:endParaRPr>
          </a:p>
        </p:txBody>
      </p:sp>
      <p:sp>
        <p:nvSpPr>
          <p:cNvPr id="14" name="Text Placeholder 13">
            <a:extLst>
              <a:ext uri="{FF2B5EF4-FFF2-40B4-BE49-F238E27FC236}">
                <a16:creationId xmlns:a16="http://schemas.microsoft.com/office/drawing/2014/main" id="{98F4F8AB-B39C-4EE5-E5F8-40CB709FCF0B}"/>
              </a:ext>
            </a:extLst>
          </p:cNvPr>
          <p:cNvSpPr>
            <a:spLocks noGrp="1"/>
          </p:cNvSpPr>
          <p:nvPr>
            <p:ph type="body" sz="quarter" idx="22"/>
          </p:nvPr>
        </p:nvSpPr>
        <p:spPr>
          <a:xfrm>
            <a:off x="234980" y="1116706"/>
            <a:ext cx="7920037" cy="553998"/>
          </a:xfrm>
        </p:spPr>
        <p:txBody>
          <a:bodyPr/>
          <a:lstStyle/>
          <a:p>
            <a:r>
              <a:rPr lang="en-IN" sz="1800" dirty="0"/>
              <a:t>Hackathon Submission Category: </a:t>
            </a:r>
            <a:r>
              <a:rPr lang="en-US" sz="1800" dirty="0"/>
              <a:t>Best use of custom agents with SharePoint </a:t>
            </a:r>
            <a:endParaRPr lang="en-IN" sz="1800" dirty="0"/>
          </a:p>
        </p:txBody>
      </p:sp>
      <p:sp>
        <p:nvSpPr>
          <p:cNvPr id="3" name="Text Placeholder 2">
            <a:extLst>
              <a:ext uri="{FF2B5EF4-FFF2-40B4-BE49-F238E27FC236}">
                <a16:creationId xmlns:a16="http://schemas.microsoft.com/office/drawing/2014/main" id="{F1B0B88F-2C92-A14E-EE11-6CFC9E8D8EA9}"/>
              </a:ext>
            </a:extLst>
          </p:cNvPr>
          <p:cNvSpPr>
            <a:spLocks noGrp="1"/>
          </p:cNvSpPr>
          <p:nvPr>
            <p:ph type="body" sz="quarter" idx="27"/>
          </p:nvPr>
        </p:nvSpPr>
        <p:spPr/>
        <p:txBody>
          <a:bodyPr/>
          <a:lstStyle/>
          <a:p>
            <a:endParaRPr lang="en-CA"/>
          </a:p>
        </p:txBody>
      </p:sp>
    </p:spTree>
    <p:extLst>
      <p:ext uri="{BB962C8B-B14F-4D97-AF65-F5344CB8AC3E}">
        <p14:creationId xmlns:p14="http://schemas.microsoft.com/office/powerpoint/2010/main" val="26079372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7496</TotalTime>
  <Words>220</Words>
  <Application>Microsoft Office PowerPoint</Application>
  <PresentationFormat>Widescreen</PresentationFormat>
  <Paragraphs>23</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Aptos</vt:lpstr>
      <vt:lpstr>Arial</vt:lpstr>
      <vt:lpstr>Segoe UI</vt:lpstr>
      <vt:lpstr>System Font Regular</vt:lpstr>
      <vt:lpstr>Ubuntu</vt:lpstr>
      <vt:lpstr>Ubuntu Light</vt:lpstr>
      <vt:lpstr>Ubuntu Medium</vt:lpstr>
      <vt:lpstr>Wingdings</vt:lpstr>
      <vt:lpstr>Capgemini_Bright_2025</vt:lpstr>
      <vt:lpstr>SharePoint Deal Desk &amp; Policy Concierge – Business Case</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Raghuwanshi, Bhawna</dc:creator>
  <cp:lastModifiedBy>Mukherjee, Soumyadeep</cp:lastModifiedBy>
  <cp:revision>2</cp:revision>
  <dcterms:created xsi:type="dcterms:W3CDTF">2026-03-05T02:19:09Z</dcterms:created>
  <dcterms:modified xsi:type="dcterms:W3CDTF">2026-03-16T22:24:55Z</dcterms:modified>
</cp:coreProperties>
</file>